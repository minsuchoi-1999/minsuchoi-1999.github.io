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3" r:id="rId4"/>
  </p:sldMasterIdLst>
  <p:notesMasterIdLst>
    <p:notesMasterId r:id="rId15"/>
  </p:notesMasterIdLst>
  <p:handoutMasterIdLst>
    <p:handoutMasterId r:id="rId16"/>
  </p:handoutMasterIdLst>
  <p:sldIdLst>
    <p:sldId id="385" r:id="rId5"/>
    <p:sldId id="394" r:id="rId6"/>
    <p:sldId id="589" r:id="rId7"/>
    <p:sldId id="622" r:id="rId8"/>
    <p:sldId id="623" r:id="rId9"/>
    <p:sldId id="624" r:id="rId10"/>
    <p:sldId id="625" r:id="rId11"/>
    <p:sldId id="626" r:id="rId12"/>
    <p:sldId id="587" r:id="rId13"/>
    <p:sldId id="627" r:id="rId23"/>
    <p:sldId id="628" r:id="rId24"/>
    <p:sldId id="629" r:id="rId25"/>
    <p:sldId id="40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3" pos="4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  <a:srgbClr val="FFBFBF"/>
    <a:srgbClr val="FFF2CC"/>
    <a:srgbClr val="E1E1FF"/>
    <a:srgbClr val="4472C4"/>
    <a:srgbClr val="FFFFFF"/>
    <a:srgbClr val="C55A11"/>
    <a:srgbClr val="B7472A"/>
    <a:srgbClr val="F5F5F5"/>
    <a:srgbClr val="D247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4560"/>
  </p:normalViewPr>
  <p:slideViewPr>
    <p:cSldViewPr snapToGrid="0">
      <p:cViewPr>
        <p:scale>
          <a:sx n="83" d="100"/>
          <a:sy n="83" d="100"/>
        </p:scale>
        <p:origin x="678" y="48"/>
      </p:cViewPr>
      <p:guideLst>
        <p:guide orient="horz" pos="2880"/>
        <p:guide pos="480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7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8/10/relationships/authors" Target="authors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18F9514-5B7A-4B86-9684-4CDA89626F93}" type="datetime1">
              <a:rPr lang="ko-KR" altLang="en-US" smtClean="0">
                <a:latin typeface="+mj-ea"/>
                <a:ea typeface="+mj-ea"/>
              </a:rPr>
              <a:t>2026-06-23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E73B2529-AF00-4D15-B1C5-B686C0C73F5E}" type="datetime1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>
              <a:latin typeface="+mj-ea"/>
              <a:ea typeface="+mj-ea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68953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4F671-F060-503D-6CED-956BE4A9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61F33C-2472-78BC-66C6-81A2A756E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9CC83F-A47B-9054-80E6-3151E7704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스케일아웃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DB1B6D-69EC-BD46-DD82-A349EC575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3</a:t>
            </a:fld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15823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E694E-6CA2-C0DC-2362-F3D552CF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A4FB80-FE69-95DD-EBDB-B100FB10E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AC8433-29EF-7399-D80D-76EBC93CA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스케일아웃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4C4E22-B6E4-C9F1-D5B4-E8781F0E3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4</a:t>
            </a:fld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6496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FBABB-C7EC-E656-FECC-AD525908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F91CE3-5856-7E23-6DA1-A96628D6B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056960-BAB7-3973-ED2D-DFAD69450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스케일아웃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2C68B9-1841-39B9-FA15-2D7B1F579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5</a:t>
            </a:fld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43358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B827A-A15F-1810-88D9-919E0413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34E6B9-002D-DBD6-473E-491938DFD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CAC79C-1963-0E6E-C171-C64C8AA5D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스케일아웃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0C328A-0424-91C1-F358-2CA6689E3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6</a:t>
            </a:fld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65772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335F1-0F5F-2407-C9ED-2667A152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10549B-99F9-3C1C-13F8-EEF12C96F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3DFAE6-F6C9-F4B9-65F7-001753793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스케일아웃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8C6CB0-9D11-E1E9-24CD-C6C9D826F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7</a:t>
            </a:fld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61183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7ABA2-FEF9-2543-8B80-5F51B387F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566EDF-4FB3-C987-90F1-68376E5E6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C770FA-A8E3-FADF-274A-A83C67C45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스케일아웃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C426B9-6396-C0EC-4C9F-18108741D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8</a:t>
            </a:fld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05244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4776-E208-6545-8E70-45ADFC0F8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38B92F-7A25-6943-C923-5804681F1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4D0155-90E3-F506-4CD8-5C49CB401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스케일아웃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F06DE1-128C-DB97-0BB0-C1E93D194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9</a:t>
            </a:fld>
            <a:endParaRPr lang="ko-KR" altLang="en-US" noProof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374427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3EF0-C8C1-4A02-8AEB-61EF13127009}" type="datetime1">
              <a:rPr lang="ko-KR" altLang="en-US" noProof="0" smtClean="0"/>
              <a:t>2026-06-23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4796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8952-EF7F-49BB-A342-7CAB9693D4B9}" type="datetime1">
              <a:rPr lang="ko-KR" altLang="en-US" noProof="0" smtClean="0"/>
              <a:t>2026-06-23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475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E0C8D-6C2F-4C6F-9796-8C1A2CBC19F5}" type="datetime1">
              <a:rPr lang="ko-KR" altLang="en-US" noProof="0" smtClean="0"/>
              <a:t>2026-06-23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225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A7D7-7CD1-4CC4-B450-8BD01B905851}" type="datetime1">
              <a:rPr lang="ko-KR" altLang="en-US" noProof="0" smtClean="0"/>
              <a:t>2026-06-23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1047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51CC-BF72-4DFE-9CEC-47CB8D96962F}" type="datetime1">
              <a:rPr lang="ko-KR" altLang="en-US" noProof="0" smtClean="0"/>
              <a:t>2026-06-23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8134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285ECD6-7242-4C43-8E30-CC4B3E0AD4C9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09583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C8BC0-1B83-446E-96CA-17618381C319}" type="datetime1">
              <a:rPr lang="ko-KR" altLang="en-US" noProof="0" smtClean="0"/>
              <a:t>2026-06-23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3596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46563-2DA6-406A-855E-FD858E3CA962}" type="datetime1">
              <a:rPr lang="ko-KR" altLang="en-US" noProof="0" smtClean="0"/>
              <a:t>2026-06-23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8478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B054B-7208-4DE3-B835-5F712408395C}" type="datetime1">
              <a:rPr lang="ko-KR" altLang="en-US" noProof="0" smtClean="0"/>
              <a:t>2026-06-23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385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FD09-1D46-40F3-8EF5-2A4B9870ABDD}" type="datetime1">
              <a:rPr lang="ko-KR" altLang="en-US" noProof="0" smtClean="0"/>
              <a:t>2026-06-23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9349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E3D9-E6D2-4F5D-9B13-9ABBD180C02D}" type="datetime1">
              <a:rPr lang="ko-KR" altLang="en-US" noProof="0" smtClean="0"/>
              <a:t>2026-06-23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2796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8056" y="2551176"/>
            <a:ext cx="9922447" cy="914400"/>
          </a:xfrm>
        </p:spPr>
        <p:txBody>
          <a:bodyPr rtlCol="0"/>
          <a:lstStyle>
            <a:lvl1pPr>
              <a:defRPr sz="5400" b="0">
                <a:solidFill>
                  <a:schemeClr val="tx1"/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07D0E1-EAED-8E08-24BA-8F930364B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8056" y="3575304"/>
            <a:ext cx="9921943" cy="862012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pic>
        <p:nvPicPr>
          <p:cNvPr id="6" name="그림 5" descr="그래픽 사용자 인터페이스&#10;&#10;자동 생성된 설명">
            <a:extLst>
              <a:ext uri="{FF2B5EF4-FFF2-40B4-BE49-F238E27FC236}">
                <a16:creationId xmlns:a16="http://schemas.microsoft.com/office/drawing/2014/main" id="{976CD4A8-8154-0AA2-A2AB-9AD82CD740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9483" y="128907"/>
            <a:ext cx="2369315" cy="8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38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32FACD-91F2-4AED-8A83-1044715C79F5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11210543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4922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8B79FD-96BE-45CD-9D02-2CCA70F2FCE0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11210543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15253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7B74C3-9873-4E99-BDEB-8F4970BF2CB1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11210543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95117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043CAC-C568-454A-A8E2-C89A96FB6C6B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11210543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87017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E5C8E9-5A3B-4586-836D-CF9274F11F03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11210543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54802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85E308-1F93-481D-B0B2-9979A7B3CB79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11210543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69163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606C26-2042-4E55-A74D-4FC0FB713B3A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11210543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00290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4F1B22-6358-447B-8824-77DF50B3A648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11210543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55208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365262-7DF2-4563-B566-E2FA0A9E79B3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11210543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716081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75A23B-EA3C-4EAB-93E6-EF1424D94A25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11210543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231433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911428-F3DF-4938-A38A-816AB9BC8488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5330952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8" name="내용 개체 틀 6">
            <a:extLst>
              <a:ext uri="{FF2B5EF4-FFF2-40B4-BE49-F238E27FC236}">
                <a16:creationId xmlns:a16="http://schemas.microsoft.com/office/drawing/2014/main" id="{904E943F-C687-D3B3-4E36-65D69E3E2F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98690" y="1463040"/>
            <a:ext cx="5330952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332104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짧은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55BE76-ABA9-4D8C-8144-B7ED1F49EBB6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5330952" cy="4601748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907002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65EB0C-75BE-4C07-BFA9-C2A744619932}" type="datetime1">
              <a:rPr lang="ko-KR" altLang="en-US" noProof="0" smtClean="0"/>
              <a:t>2026-06-23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9238323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EEE6C-9A02-4B9C-B0A5-B31D8ED753A1}" type="datetime1">
              <a:rPr lang="ko-KR" altLang="en-US" noProof="0" smtClean="0"/>
              <a:t>2026-06-23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(S) 6">
            <a:extLst>
              <a:ext uri="{FF2B5EF4-FFF2-40B4-BE49-F238E27FC236}">
                <a16:creationId xmlns:a16="http://schemas.microsoft.com/office/drawing/2014/main" id="{ED114AA5-EC6A-5898-1BE4-766AB3EB64F3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73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65" r:id="rId23"/>
    <p:sldLayoutId id="2147483666" r:id="rId24"/>
    <p:sldLayoutId id="2147483667" r:id="rId2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D66E636-D1D5-3AAC-5CD5-A2F5C585C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월 </a:t>
            </a:r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주차 </a:t>
            </a:r>
            <a:r>
              <a:rPr lang="ko-KR" altLang="en-US" dirty="0" err="1">
                <a:solidFill>
                  <a:schemeClr val="bg2">
                    <a:lumMod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랩미팅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831F0C-52BB-6204-5BF6-C4DDD2394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rtlCol="0">
            <a:normAutofit/>
          </a:bodyPr>
          <a:lstStyle/>
          <a:p>
            <a:pPr marL="0" indent="0">
              <a:buNone/>
            </a:pPr>
            <a:r>
              <a:rPr lang="ko-KR" altLang="en-US" sz="2400" dirty="0" err="1">
                <a:solidFill>
                  <a:schemeClr val="accent1"/>
                </a:solidFill>
              </a:rPr>
              <a:t>고성능컴퓨팅연구실</a:t>
            </a:r>
            <a:r>
              <a:rPr lang="ko-KR" altLang="en-US" sz="2400" dirty="0">
                <a:solidFill>
                  <a:schemeClr val="accent1"/>
                </a:solidFill>
              </a:rPr>
              <a:t> 석사과정 최민수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B1C3E4-D044-8AC8-5053-B971AD7CD39D}"/>
              </a:ext>
            </a:extLst>
          </p:cNvPr>
          <p:cNvSpPr/>
          <p:nvPr/>
        </p:nvSpPr>
        <p:spPr>
          <a:xfrm>
            <a:off x="325256" y="227065"/>
            <a:ext cx="3577821" cy="7609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7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4E653B2F-A2A1-6E6E-BF97-DADF76E75EB8}"/>
              </a:ext>
            </a:extLst>
          </p:cNvPr>
          <p:cNvSpPr txBox="1">
            <a:spLocks/>
          </p:cNvSpPr>
          <p:nvPr/>
        </p:nvSpPr>
        <p:spPr>
          <a:xfrm>
            <a:off x="448112" y="2183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Table of Contents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4F0A2EA-640C-1CE6-501F-6BCDC8E8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ko-KR" noProof="0" smtClean="0"/>
              <a:pPr rtl="0"/>
              <a:t>2</a:t>
            </a:fld>
            <a:endParaRPr lang="ko-KR" altLang="en-US" noProof="0"/>
          </a:p>
        </p:txBody>
      </p:sp>
      <p:sp>
        <p:nvSpPr>
          <p:cNvPr id="11" name="TextBox 10"/>
          <p:cNvSpPr txBox="1"/>
          <p:nvPr/>
        </p:nvSpPr>
        <p:spPr>
          <a:xfrm>
            <a:off x="402336" y="1554480"/>
            <a:ext cx="41148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Pretendard Medium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554480"/>
            <a:ext cx="603504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0">
                <a:solidFill>
                  <a:srgbClr val="2D2D2D"/>
                </a:solidFill>
                <a:latin typeface="Pretendard Light"/>
              </a:rPr>
              <a:t>진행 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267712"/>
            <a:ext cx="41148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Pretendard Medium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267712"/>
            <a:ext cx="603504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0">
                <a:solidFill>
                  <a:srgbClr val="2D2D2D"/>
                </a:solidFill>
                <a:latin typeface="Pretendard Light"/>
              </a:rPr>
              <a:t>연구 계보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41148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Pretendard Medium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980944"/>
            <a:ext cx="603504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0">
                <a:solidFill>
                  <a:srgbClr val="2D2D2D"/>
                </a:solidFill>
                <a:latin typeface="Pretendard Light"/>
              </a:rPr>
              <a:t>프로토타입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3694176"/>
            <a:ext cx="41148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F3756"/>
                </a:solidFill>
                <a:latin typeface="Pretendard Medium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694176"/>
            <a:ext cx="603504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0">
                <a:solidFill>
                  <a:srgbClr val="2D2D2D"/>
                </a:solidFill>
                <a:latin typeface="Pretendard Light"/>
              </a:rPr>
              <a:t>향후 계획</a:t>
            </a:r>
          </a:p>
        </p:txBody>
      </p:sp>
    </p:spTree>
    <p:extLst>
      <p:ext uri="{BB962C8B-B14F-4D97-AF65-F5344CB8AC3E}">
        <p14:creationId xmlns:p14="http://schemas.microsoft.com/office/powerpoint/2010/main" val="1627662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2121E-7039-4676-6690-8C465C1A2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A13DF60-3E00-42C3-91A4-6B9BB341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ko-KR" noProof="0" smtClean="0"/>
              <a:pPr rtl="0"/>
              <a:t>3</a:t>
            </a:fld>
            <a:endParaRPr lang="ko-KR" altLang="en-US" noProof="0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2A4B7433-F31F-33D0-15A0-E8C33F48BFA7}"/>
              </a:ext>
            </a:extLst>
          </p:cNvPr>
          <p:cNvSpPr txBox="1">
            <a:spLocks/>
          </p:cNvSpPr>
          <p:nvPr/>
        </p:nvSpPr>
        <p:spPr>
          <a:xfrm>
            <a:off x="448112" y="2183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0">
                <a:solidFill>
                  <a:srgbClr val="1F3756"/>
                </a:solidFill>
                <a:latin typeface="Pretendard Medium"/>
              </a:rPr>
              <a:t>1. 진행 사항 (1/6)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DF33C-E02A-9D6C-D4F0-E5D62E478633}"/>
              </a:ext>
            </a:extLst>
          </p:cNvPr>
          <p:cNvSpPr txBox="1"/>
          <p:nvPr/>
        </p:nvSpPr>
        <p:spPr>
          <a:xfrm>
            <a:off x="612396" y="1277621"/>
            <a:ext cx="10461071" cy="1096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현재까지 진행 사항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– 1. Quantum algorithm &amp; QNN(Quantum Neural Network)</a:t>
            </a:r>
            <a:endParaRPr lang="ko-KR" altLang="en-US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처음에는 순수한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Quantum algorithm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QNN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대해 스터디 함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순수 수학</a:t>
            </a:r>
            <a:r>
              <a:rPr lang="en-US" altLang="ko-KR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 </a:t>
            </a:r>
            <a:r>
              <a:rPr lang="ko-KR" altLang="en-US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물리학에 가까운 내용이라서 현실적으로 어렵다고 판단함</a:t>
            </a:r>
            <a:r>
              <a:rPr lang="en-US" altLang="ko-KR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0857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F31BB-5F24-1931-8E9E-BF836269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D6F0B8-E336-C9C4-B372-8C4D2863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ko-KR" noProof="0" smtClean="0"/>
              <a:pPr rtl="0"/>
              <a:t>4</a:t>
            </a:fld>
            <a:endParaRPr lang="ko-KR" altLang="en-US" noProof="0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55C6B249-8A25-BEB1-2042-AF9A9188BA8C}"/>
              </a:ext>
            </a:extLst>
          </p:cNvPr>
          <p:cNvSpPr txBox="1">
            <a:spLocks/>
          </p:cNvSpPr>
          <p:nvPr/>
        </p:nvSpPr>
        <p:spPr>
          <a:xfrm>
            <a:off x="448112" y="2183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0">
                <a:solidFill>
                  <a:srgbClr val="1F3756"/>
                </a:solidFill>
                <a:latin typeface="Pretendard Medium"/>
              </a:rPr>
              <a:t>1. 진행 사항 (2/6)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30B87-0F63-12CB-954E-C4D515DB6372}"/>
              </a:ext>
            </a:extLst>
          </p:cNvPr>
          <p:cNvSpPr txBox="1"/>
          <p:nvPr/>
        </p:nvSpPr>
        <p:spPr>
          <a:xfrm>
            <a:off x="612396" y="1277621"/>
            <a:ext cx="10461071" cy="2204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현재까지 진행 사항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– 2. VQE (</a:t>
            </a:r>
            <a:r>
              <a:rPr lang="en-US" altLang="ko-KR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Variantal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Quantum </a:t>
            </a:r>
            <a:r>
              <a:rPr lang="en-US" altLang="ko-KR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Eigensolver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그러다가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Quantum logic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통해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Hamiltonian(</a:t>
            </a:r>
            <a:r>
              <a:rPr lang="ko-KR" altLang="en-US" sz="16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기대값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구하는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VQE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발견함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보통 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Classical</a:t>
            </a: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 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CPU</a:t>
            </a: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Quantum </a:t>
            </a: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기기 두 개를 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hybrid</a:t>
            </a: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하게 사용하여 가능성이 있다고 판단함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문제는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VQE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역시 가장 활발한 연구는 어떻게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ansatz(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회로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정해야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barren plateau(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차원의 증폭으로 변화가 거의 사라지는 현상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줄이고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물리학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화학적 성질을 반영해서 탐색 공간을 줄일 지에 대한 주된 연구였음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관련 논문을 읽어봐도</a:t>
            </a:r>
            <a:r>
              <a:rPr lang="en-US" altLang="ko-KR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ansatz</a:t>
            </a:r>
            <a:r>
              <a:rPr lang="ko-KR" altLang="en-US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대한 해공간 연구가 주된 연구라 </a:t>
            </a:r>
            <a:r>
              <a:rPr lang="en-US" altLang="ko-KR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CS</a:t>
            </a:r>
            <a:r>
              <a:rPr lang="ko-KR" altLang="en-US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동떨어진다고 판단</a:t>
            </a:r>
            <a:endParaRPr lang="en-US" altLang="ko-KR" sz="1600" i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711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5A96F-5411-69B4-3FA3-060830BD7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A0BF982-BDF3-5D19-2608-CC1783A0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ko-KR" noProof="0" smtClean="0"/>
              <a:pPr rtl="0"/>
              <a:t>5</a:t>
            </a:fld>
            <a:endParaRPr lang="ko-KR" altLang="en-US" noProof="0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C16DC656-9B2C-8D1B-73A0-E940A0102F75}"/>
              </a:ext>
            </a:extLst>
          </p:cNvPr>
          <p:cNvSpPr txBox="1">
            <a:spLocks/>
          </p:cNvSpPr>
          <p:nvPr/>
        </p:nvSpPr>
        <p:spPr>
          <a:xfrm>
            <a:off x="448112" y="2183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0">
                <a:solidFill>
                  <a:srgbClr val="1F3756"/>
                </a:solidFill>
                <a:latin typeface="Pretendard Medium"/>
              </a:rPr>
              <a:t>1. 진행 사항 (3/6)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8B1B92-9A9B-C247-4B64-FB0A33080D7A}"/>
              </a:ext>
            </a:extLst>
          </p:cNvPr>
          <p:cNvSpPr txBox="1"/>
          <p:nvPr/>
        </p:nvSpPr>
        <p:spPr>
          <a:xfrm>
            <a:off x="612396" y="1277621"/>
            <a:ext cx="10461071" cy="368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현재까지 진행 사항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– 3. QCCNN(</a:t>
            </a:r>
            <a:r>
              <a:rPr lang="pt-B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Hybrid Quantum-Classical Convolutional Neural Networks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QCCNN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읽고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Quantum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대한 깊은 이해가 좀 부족해도 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superposition/entanglement</a:t>
            </a: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같은 성질을 이용해 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Hamiltonian</a:t>
            </a: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구하고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이를 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Classical</a:t>
            </a: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 알고리즘에 적용할 수 있을 수도 있다고 판단함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예를 들어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CNN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filter map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주변부의 성질을 하나의 값으로 나타내는 역할을 하는데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이는 여러 상태를 </a:t>
            </a:r>
            <a:r>
              <a:rPr lang="ko-KR" altLang="en-US" sz="16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중첩시켜서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하나의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Hamiltonian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구하는 것과 완전히 유사하고 실제로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QCCNN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에서는 이를 통해서 더 적은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Loss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얻어냈다고 함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이에 이를 직접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LLM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 구현하여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실험을 돌려봄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그런데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QCCNN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정확도가 높게 수렴하는 것과 별개로 시간의 차이가 너무 많이 남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(Classical CNN: 30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초 내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QCCNN 30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이러한 한계에서 시간에 대한 문제를 언급하지 않고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표현력과 잠재력에 집중했다는 것을 알게 됨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즉</a:t>
            </a:r>
            <a:r>
              <a:rPr lang="en-US" altLang="ko-KR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여전히 다변수의 표현력에 대한 가능성은 존재하고 이를 좀 더 최적화된 알고리즘에 넣는다면 어떨까</a:t>
            </a:r>
            <a:r>
              <a:rPr lang="en-US" altLang="ko-KR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? </a:t>
            </a:r>
            <a:r>
              <a:rPr lang="ko-KR" altLang="en-US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라는 질문으로 이어짐</a:t>
            </a:r>
            <a:endParaRPr lang="en-US" altLang="ko-KR" sz="1600" i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339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D108-80D6-3980-F770-ADAAC58F5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BE5AF25-8D56-6A24-EBF6-7632F54E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ko-KR" noProof="0" smtClean="0"/>
              <a:pPr rtl="0"/>
              <a:t>6</a:t>
            </a:fld>
            <a:endParaRPr lang="ko-KR" altLang="en-US" noProof="0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BCAED76-8BE7-EB47-8583-6E014B075737}"/>
              </a:ext>
            </a:extLst>
          </p:cNvPr>
          <p:cNvSpPr txBox="1">
            <a:spLocks/>
          </p:cNvSpPr>
          <p:nvPr/>
        </p:nvSpPr>
        <p:spPr>
          <a:xfrm>
            <a:off x="448112" y="2183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0">
                <a:solidFill>
                  <a:srgbClr val="1F3756"/>
                </a:solidFill>
                <a:latin typeface="Pretendard Medium"/>
              </a:rPr>
              <a:t>1. 진행 사항 (4/6)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B6066-FE2E-BEA8-8BEC-1607E712E22B}"/>
              </a:ext>
            </a:extLst>
          </p:cNvPr>
          <p:cNvSpPr txBox="1"/>
          <p:nvPr/>
        </p:nvSpPr>
        <p:spPr>
          <a:xfrm>
            <a:off x="612396" y="1277621"/>
            <a:ext cx="10461071" cy="2942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현재까지 진행 사항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– 4. Time-series forecasting(</a:t>
            </a:r>
            <a:r>
              <a:rPr lang="ko-KR" altLang="en-US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다변수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in,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단일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out)</a:t>
            </a:r>
            <a:endParaRPr lang="ko-KR" altLang="en-US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이에 </a:t>
            </a:r>
            <a:r>
              <a:rPr lang="ko-KR" altLang="en-US" sz="16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다변수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forecasting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대한 연구로 </a:t>
            </a:r>
            <a:r>
              <a:rPr lang="ko-KR" altLang="en-US" sz="16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넘어감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처음에는 </a:t>
            </a:r>
            <a:r>
              <a:rPr lang="ko-KR" altLang="en-US" sz="16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다변수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입력 단일 출력의 예측 상황에서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PQC(Parameterized Quantum Circuit)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이용해 봄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구체적으로는 다변수의 입력을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PQC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통해 </a:t>
            </a:r>
            <a:r>
              <a:rPr lang="ko-KR" altLang="en-US" sz="16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대표값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개로 입력의 줄였을 때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얼마나 정확도가 유지되는 지에 대한 실험을 진행함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결과적으로 꽤 잘 유지됨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하지만 단순한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MLP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줄였을 때도 충분히 잘 유지되고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오히려 시간적인 측면에서는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Quantum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압도적으로 여전히 더 </a:t>
            </a:r>
            <a:r>
              <a:rPr lang="ko-KR" altLang="en-US" sz="16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느렸음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i="1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다변수</a:t>
            </a:r>
            <a:r>
              <a:rPr lang="ko-KR" altLang="en-US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입력</a:t>
            </a:r>
            <a:r>
              <a:rPr lang="en-US" altLang="ko-KR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단일 출력의 예측은 너무 </a:t>
            </a:r>
            <a:r>
              <a:rPr lang="en-US" altLang="ko-KR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task</a:t>
            </a:r>
            <a:r>
              <a:rPr lang="ko-KR" altLang="en-US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간단해서 </a:t>
            </a:r>
            <a:r>
              <a:rPr lang="en-US" altLang="ko-KR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Quantum</a:t>
            </a:r>
            <a:r>
              <a:rPr lang="ko-KR" altLang="en-US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이점이 거의 없다고 판단</a:t>
            </a:r>
            <a:r>
              <a:rPr lang="en-US" altLang="ko-KR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조금 더 복잡한 상황으로 실험</a:t>
            </a:r>
            <a:endParaRPr lang="en-US" altLang="ko-KR" sz="1600" b="1" i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3919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35FAC-C9F4-7FEC-05C0-8A43825B1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FCDEE9A-F635-AA66-B066-43CC700D2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ko-KR" noProof="0" smtClean="0"/>
              <a:pPr rtl="0"/>
              <a:t>7</a:t>
            </a:fld>
            <a:endParaRPr lang="ko-KR" altLang="en-US" noProof="0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477FCBE2-DCF1-7204-6174-9F8D8539BD68}"/>
              </a:ext>
            </a:extLst>
          </p:cNvPr>
          <p:cNvSpPr txBox="1">
            <a:spLocks/>
          </p:cNvSpPr>
          <p:nvPr/>
        </p:nvSpPr>
        <p:spPr>
          <a:xfrm>
            <a:off x="448112" y="2183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0">
                <a:solidFill>
                  <a:srgbClr val="1F3756"/>
                </a:solidFill>
                <a:latin typeface="Pretendard Medium"/>
              </a:rPr>
              <a:t>1. 진행 사항 (5/6)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5EFE9D-2362-4FBD-13E7-71A72174AAD6}"/>
              </a:ext>
            </a:extLst>
          </p:cNvPr>
          <p:cNvSpPr txBox="1"/>
          <p:nvPr/>
        </p:nvSpPr>
        <p:spPr>
          <a:xfrm>
            <a:off x="612396" y="1277621"/>
            <a:ext cx="10461071" cy="368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현재까지 진행 사항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– 4. Time-series forecasting(</a:t>
            </a:r>
            <a:r>
              <a:rPr lang="ko-KR" altLang="en-US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다변수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in, </a:t>
            </a:r>
            <a:r>
              <a:rPr lang="ko-KR" altLang="en-US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다변수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out)</a:t>
            </a:r>
            <a:endParaRPr lang="ko-KR" altLang="en-US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이에 </a:t>
            </a:r>
            <a:r>
              <a:rPr lang="ko-KR" altLang="en-US" sz="16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다변수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입력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다변수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출력 상황으로 실험 진행</a:t>
            </a:r>
            <a:endParaRPr lang="en-US" altLang="ko-KR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다만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encoding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Hamiltonian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줄일 수는 있지만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줄어든 차원을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decoding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통해서 원래로 돌릴 수는 없음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(quantum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black box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이기 때문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그래서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Attention map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O(N*N)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 때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attention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map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앞 단에서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Top-K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같은 로직을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Quantum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진행해보기로 판단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Quantum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차원을 줄였을 때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정확도가 유지되는 것을 확인함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그런데 문제는 동일한 것을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MLP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똑같이 진행해서 최악의 경우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O(N)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줄여도 정확도가 거의 유지되는 것을 확인했음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추가로 찾아보니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Time-series forecasting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대해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O(N*N)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attention map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over-engineering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이라는 논문들도 많았고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실제로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attention map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일부를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projection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차원을 대폭 줄여도 성능이 크게 차이가 나지 않았다고 함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즉</a:t>
            </a:r>
            <a:r>
              <a:rPr lang="en-US" altLang="ko-KR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역시 </a:t>
            </a:r>
            <a:r>
              <a:rPr lang="en-US" altLang="ko-KR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Quantum advantage</a:t>
            </a:r>
            <a:r>
              <a:rPr lang="ko-KR" altLang="en-US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논하기에는 너무 간단한 문제였음</a:t>
            </a:r>
            <a:r>
              <a:rPr lang="en-US" altLang="ko-KR" sz="1600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7125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B912E-6D95-4E58-6722-F2A81F57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094A86E-4708-C137-24F5-9AA1D874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ko-KR" noProof="0" smtClean="0"/>
              <a:pPr rtl="0"/>
              <a:t>8</a:t>
            </a:fld>
            <a:endParaRPr lang="ko-KR" altLang="en-US" noProof="0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C935644-DAB2-9DE9-17C3-7AA1C413F5F9}"/>
              </a:ext>
            </a:extLst>
          </p:cNvPr>
          <p:cNvSpPr txBox="1">
            <a:spLocks/>
          </p:cNvSpPr>
          <p:nvPr/>
        </p:nvSpPr>
        <p:spPr>
          <a:xfrm>
            <a:off x="448112" y="2183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0">
                <a:solidFill>
                  <a:srgbClr val="1F3756"/>
                </a:solidFill>
                <a:latin typeface="Pretendard Medium"/>
              </a:rPr>
              <a:t>1. 진행 사항 (6/6)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64AE3E-4E3A-999C-D6C6-DAEFA60BCCC5}"/>
              </a:ext>
            </a:extLst>
          </p:cNvPr>
          <p:cNvSpPr txBox="1"/>
          <p:nvPr/>
        </p:nvSpPr>
        <p:spPr>
          <a:xfrm>
            <a:off x="612396" y="1277621"/>
            <a:ext cx="10461071" cy="331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현재까지 진행 사항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– 5. Figuring out a bottleneck</a:t>
            </a:r>
            <a:endParaRPr lang="ko-KR" altLang="en-US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근데 이 과정들 중에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VQE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일관적으로 시간이 많이 걸린다는 것을 확인함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이는 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Shot(</a:t>
            </a: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관측 수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많이 필요하기 때문임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예를 들어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QCCNN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filter map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사이즈가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2x2,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그림이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3x3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이면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다음과 같음</a:t>
            </a:r>
            <a:endParaRPr lang="en-US" altLang="ko-KR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회로의 실행시간 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4</a:t>
            </a: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윈도우가 움직이는 횟수</a:t>
            </a:r>
            <a:r>
              <a:rPr lang="en-US" altLang="ko-KR" sz="16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* D (#convolution layer) * S (#measurements)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이게 본질적으로도 큰 문제인데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더 심각해지는 이유는 파라미터 역전파를 위한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Parameter shift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하면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앞선 관측을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배로 해야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역전파를 진행할 수 있기 때문임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i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부분에서 큰 가능성을 발견함</a:t>
            </a:r>
            <a:r>
              <a:rPr lang="en-US" altLang="ko-KR" sz="1600" b="1" i="1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(Shot</a:t>
            </a:r>
            <a:r>
              <a:rPr lang="ko-KR" altLang="en-US" sz="1600" b="1" i="1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수를 </a:t>
            </a:r>
            <a:r>
              <a:rPr lang="en-US" altLang="ko-KR" sz="1600" b="1" i="1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dynamic</a:t>
            </a:r>
            <a:r>
              <a:rPr lang="ko-KR" altLang="en-US" sz="1600" b="1" i="1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하게 </a:t>
            </a:r>
            <a:r>
              <a:rPr lang="en-US" altLang="ko-KR" sz="1600" b="1" i="1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scheduling</a:t>
            </a:r>
            <a:r>
              <a:rPr lang="ko-KR" altLang="en-US" sz="1600" b="1" i="1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할 수 있고</a:t>
            </a:r>
            <a:r>
              <a:rPr lang="en-US" altLang="ko-KR" sz="1600" b="1" i="1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600" b="1" i="1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병렬 상황에서 </a:t>
            </a:r>
            <a:r>
              <a:rPr lang="en-US" altLang="ko-KR" sz="1600" b="1" i="1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Qubit</a:t>
            </a:r>
            <a:r>
              <a:rPr lang="ko-KR" altLang="en-US" sz="1600" b="1" i="1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최대 활용할 수 있게 한다면 큰 의미가 있을 수 있을 것 같음</a:t>
            </a:r>
            <a:r>
              <a:rPr lang="en-US" altLang="ko-KR" sz="1600" b="1" i="1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7041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560A3-651B-C6A4-E1A4-A2ACFE13A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82880"/>
            <a:ext cx="1051560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3100" b="0">
                <a:solidFill>
                  <a:srgbClr val="1F3756"/>
                </a:solidFill>
                <a:latin typeface="Pretendard Medium"/>
              </a:rPr>
              <a:t>2. 연구 계보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09728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69848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2D2D2D"/>
                </a:solidFill>
                <a:latin typeface="Pretendard Medium"/>
              </a:rPr>
              <a:t>서로 독립적으로 발전한 세 연구 흐름이 CUDA-Q PTSBE에서 만남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127248" cy="3319272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8"/>
            <a:ext cx="2798064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4472C4"/>
                </a:solidFill>
                <a:latin typeface="Pretendard Medium"/>
              </a:rPr>
              <a:t>Noisy quantum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86000"/>
            <a:ext cx="2798064" cy="2176272"/>
          </a:xfrm>
          <a:prstGeom prst="rect">
            <a:avLst/>
          </a:prstGeom>
          <a:noFill/>
        </p:spPr>
        <p:txBody>
          <a:bodyPr wrap="none" lIns="109728" rIns="109728" tIns="73152" bIns="7315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Quantum trajectory / MCWF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GPU noisy-state simulation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PTSBE (SC’25): static S, T를 빠르게 실행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78224" y="1481328"/>
            <a:ext cx="3127248" cy="3319272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42816" y="1664208"/>
            <a:ext cx="2798064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70AD47"/>
                </a:solidFill>
                <a:latin typeface="Pretendard Medium"/>
              </a:rPr>
              <a:t>Adaptive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2286000"/>
            <a:ext cx="2798064" cy="2176272"/>
          </a:xfrm>
          <a:prstGeom prst="rect">
            <a:avLst/>
          </a:prstGeom>
          <a:noFill/>
        </p:spPr>
        <p:txBody>
          <a:bodyPr wrap="none" lIns="109728" rIns="109728" tIns="73152" bIns="7315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QuTiP: tolerance 기반 stopping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IncrementalExecution: dynamic shots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필요한 표본 수를 실행 중 추정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808" y="1481328"/>
            <a:ext cx="3127248" cy="3319272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664208"/>
            <a:ext cx="2798064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Pretendard Medium"/>
              </a:rPr>
              <a:t>GPU autotuning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86000"/>
            <a:ext cx="2798064" cy="2176272"/>
          </a:xfrm>
          <a:prstGeom prst="rect">
            <a:avLst/>
          </a:prstGeom>
          <a:noFill/>
        </p:spPr>
        <p:txBody>
          <a:bodyPr wrap="none" lIns="109728" rIns="109728" tIns="73152" bIns="7315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OpenTuner·CLTune·GPTune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workload → execution configuration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성능–정확도 제약 configuration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53312" y="5056632"/>
            <a:ext cx="9436608" cy="713232"/>
          </a:xfrm>
          <a:prstGeom prst="roundRect">
            <a:avLst/>
          </a:prstGeom>
          <a:solidFill>
            <a:srgbClr val="F2F7FC"/>
          </a:solidFill>
          <a:ln w="1524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184648"/>
            <a:ext cx="9034272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F3756"/>
                </a:solidFill>
                <a:latin typeface="Pretendard Medium"/>
              </a:rPr>
              <a:t>교차점: 정확도 목표를 만족하는 최소 trajectory–shot 예산을 GPU runtime이 자동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870448"/>
            <a:ext cx="10332720" cy="24688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Pretendard Light"/>
              </a:rPr>
              <a:t>관련 연구: OpenTuner (PACT’14), GPTune (PPoPP’21), PTSBE (SC’25), IncrementalExecution / StableShots (2026)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327648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Pretendard Ligh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67735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F44AA-0359-C345-5C87-87E76015E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ko-KR" altLang="en-US" dirty="0" err="1"/>
              <a:t>들어주셔서</a:t>
            </a:r>
            <a:r>
              <a:rPr lang="ko-KR" altLang="en-US" dirty="0"/>
              <a:t> 감사합니다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D84B5A3-1FA5-61C8-C8EC-606AE957BF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3575304"/>
            <a:ext cx="9921875" cy="1911350"/>
          </a:xfrm>
        </p:spPr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048625-7FA5-88C2-4EFC-5E73207E5C8D}"/>
              </a:ext>
            </a:extLst>
          </p:cNvPr>
          <p:cNvSpPr/>
          <p:nvPr/>
        </p:nvSpPr>
        <p:spPr>
          <a:xfrm>
            <a:off x="325256" y="227065"/>
            <a:ext cx="3577821" cy="7609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059603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051560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3100" b="0">
                <a:solidFill>
                  <a:srgbClr val="1F3756"/>
                </a:solidFill>
                <a:latin typeface="Pretendard Medium"/>
              </a:rPr>
              <a:t>2. 연구 계보 (2/2) — 우리가 찾은 빈틈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09728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504" y="1170432"/>
            <a:ext cx="2971800" cy="4005072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389888"/>
            <a:ext cx="2487168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4472C4"/>
                </a:solidFill>
                <a:latin typeface="Pretendard Medium"/>
              </a:rPr>
              <a:t>PTSBE가 해결한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011680"/>
            <a:ext cx="2487168" cy="2240280"/>
          </a:xfrm>
          <a:prstGeom prst="rect">
            <a:avLst/>
          </a:prstGeom>
          <a:noFill/>
        </p:spPr>
        <p:txBody>
          <a:bodyPr wrap="none" lIns="109728" rIns="109728" tIns="73152" bIns="7315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2D2D2D"/>
                </a:solidFill>
                <a:latin typeface="Pretendard Light"/>
              </a:rPr>
              <a:t>• noise trajectory 사전 생성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2D2D2D"/>
                </a:solidFill>
                <a:latin typeface="Pretendard Light"/>
              </a:rPr>
              <a:t>• 중복 trajectory 제거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2D2D2D"/>
                </a:solidFill>
                <a:latin typeface="Pretendard Light"/>
              </a:rPr>
              <a:t>• GPU batch execution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2D2D2D"/>
                </a:solidFill>
                <a:latin typeface="Pretendard Light"/>
              </a:rPr>
              <a:t>• 주어진 S, T를 빠르게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58768" y="1170432"/>
            <a:ext cx="4407408" cy="4005072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389888"/>
            <a:ext cx="3895344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ED7D31"/>
                </a:solidFill>
                <a:latin typeface="Pretendard Medium"/>
              </a:rPr>
              <a:t>아직 사용자가 직접 정하는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2103120"/>
            <a:ext cx="3493008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Pretendard Medium"/>
              </a:rPr>
              <a:t>shots_count =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779776"/>
            <a:ext cx="3493008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Pretendard Medium"/>
              </a:rPr>
              <a:t>max_trajectories =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621024"/>
            <a:ext cx="3895344" cy="104241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ED7D31"/>
                </a:solidFill>
                <a:latin typeface="Pretendard Medium"/>
              </a:rPr>
              <a:t>같은 S에서도 T에 따라
GPU 시간과 정확도가 크게 달라짐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8784" y="1170432"/>
            <a:ext cx="2971800" cy="4005072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1389888"/>
            <a:ext cx="2487168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70AD47"/>
                </a:solidFill>
                <a:latin typeface="Pretendard Medium"/>
              </a:rPr>
              <a:t>우리의 연구 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4816" y="2029968"/>
            <a:ext cx="2450592" cy="10058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2D2D2D"/>
                </a:solidFill>
                <a:latin typeface="Pretendard Medium"/>
              </a:rPr>
              <a:t>작은 pilot으로
workload 난이도 추정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3163824"/>
            <a:ext cx="2450592" cy="58521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800" b="1">
                <a:solidFill>
                  <a:srgbClr val="70AD47"/>
                </a:solidFill>
                <a:latin typeface="Pretendard Medium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6" y="3785615"/>
            <a:ext cx="2450592" cy="9692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2D2D2D"/>
                </a:solidFill>
                <a:latin typeface="Pretendard Medium"/>
              </a:rPr>
              <a:t>정확도를 보장하는
최소 (S*, T*)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5422392"/>
            <a:ext cx="10113264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F3756"/>
                </a:solidFill>
                <a:latin typeface="Pretendard Medium"/>
              </a:rPr>
              <a:t>min GPUTime(S,T)   s.t.   P(max |Ô − O| ≤ ε) ≥ 1 − 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6327648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Pretendard Light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051560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3100" b="0">
                <a:solidFill>
                  <a:srgbClr val="1F3756"/>
                </a:solidFill>
                <a:latin typeface="Pretendard Medium"/>
              </a:rPr>
              <a:t>3. 프로토타입 결과 (1/1)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09728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69848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2D2D2D"/>
                </a:solidFill>
                <a:latin typeface="Pretendard Medium"/>
              </a:rPr>
              <a:t>11개 workload × 20 seeds × 29 configurations, probabilistic/ordered PTSBE 총 12,760회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44752"/>
            <a:ext cx="2523744" cy="566928"/>
          </a:xfrm>
          <a:prstGeom prst="rect">
            <a:avLst/>
          </a:prstGeom>
          <a:solidFill>
            <a:srgbClr val="1F3756"/>
          </a:solidFill>
          <a:ln w="1524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499616"/>
            <a:ext cx="2432303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Medium"/>
              </a:rPr>
              <a:t>방향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3552" y="1444752"/>
            <a:ext cx="1883664" cy="566928"/>
          </a:xfrm>
          <a:prstGeom prst="rect">
            <a:avLst/>
          </a:prstGeom>
          <a:solidFill>
            <a:srgbClr val="1F3756"/>
          </a:solidFill>
          <a:ln w="1524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1499616"/>
            <a:ext cx="1792224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Medium"/>
              </a:rPr>
              <a:t>정확도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5285232" y="1444752"/>
            <a:ext cx="1517904" cy="566928"/>
          </a:xfrm>
          <a:prstGeom prst="rect">
            <a:avLst/>
          </a:prstGeom>
          <a:solidFill>
            <a:srgbClr val="1F3756"/>
          </a:solidFill>
          <a:ln w="1524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0952" y="1499616"/>
            <a:ext cx="1426463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Medium"/>
              </a:rPr>
              <a:t>가속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31152" y="1444752"/>
            <a:ext cx="4498848" cy="566928"/>
          </a:xfrm>
          <a:prstGeom prst="rect">
            <a:avLst/>
          </a:prstGeom>
          <a:solidFill>
            <a:srgbClr val="1F3756"/>
          </a:solidFill>
          <a:ln w="1524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1499616"/>
            <a:ext cx="4407408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Medium"/>
              </a:rPr>
              <a:t>판단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057400"/>
            <a:ext cx="2523744" cy="960120"/>
          </a:xfrm>
          <a:prstGeom prst="rect">
            <a:avLst/>
          </a:prstGeom>
          <a:solidFill>
            <a:srgbClr val="DDEBF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2057400"/>
            <a:ext cx="1883664" cy="960120"/>
          </a:xfrm>
          <a:prstGeom prst="rect">
            <a:avLst/>
          </a:prstGeom>
          <a:solidFill>
            <a:srgbClr val="DDEBF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85232" y="2057400"/>
            <a:ext cx="1517904" cy="960120"/>
          </a:xfrm>
          <a:prstGeom prst="rect">
            <a:avLst/>
          </a:prstGeom>
          <a:solidFill>
            <a:srgbClr val="DDEBF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31152" y="2057400"/>
            <a:ext cx="4498848" cy="960120"/>
          </a:xfrm>
          <a:prstGeom prst="rect">
            <a:avLst/>
          </a:prstGeom>
          <a:solidFill>
            <a:srgbClr val="DDEBF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167128"/>
            <a:ext cx="2267712" cy="7132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  <a:latin typeface="Pretendard"/>
              </a:rPr>
              <a:t>A. Offline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148840"/>
            <a:ext cx="1627632" cy="7498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2D2D2D"/>
                </a:solidFill>
                <a:latin typeface="Pretendard Medium"/>
              </a:rPr>
              <a:t>93.6%
(중앙값)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148840"/>
            <a:ext cx="1298448" cy="7498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2D2D2D"/>
                </a:solidFill>
                <a:latin typeface="Pretendard Medium"/>
              </a:rPr>
              <a:t>2.29×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130552"/>
            <a:ext cx="4133087" cy="8046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Pretendard Light"/>
              </a:rPr>
              <a:t>성능은 좋지만 calibration 회수에
약 56~1,211회 재사용 필요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3081528"/>
            <a:ext cx="2523744" cy="960120"/>
          </a:xfrm>
          <a:prstGeom prst="rect">
            <a:avLst/>
          </a:prstGeom>
          <a:solidFill>
            <a:srgbClr val="E2EFD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73552" y="3081528"/>
            <a:ext cx="1883664" cy="960120"/>
          </a:xfrm>
          <a:prstGeom prst="rect">
            <a:avLst/>
          </a:prstGeom>
          <a:solidFill>
            <a:srgbClr val="E2EFD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85232" y="3081528"/>
            <a:ext cx="1517904" cy="960120"/>
          </a:xfrm>
          <a:prstGeom prst="rect">
            <a:avLst/>
          </a:prstGeom>
          <a:solidFill>
            <a:srgbClr val="E2EFD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31152" y="3081528"/>
            <a:ext cx="4498848" cy="960120"/>
          </a:xfrm>
          <a:prstGeom prst="rect">
            <a:avLst/>
          </a:prstGeom>
          <a:solidFill>
            <a:srgbClr val="E2EFD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191256"/>
            <a:ext cx="2267712" cy="7132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  <a:latin typeface="Pretendard"/>
              </a:rPr>
              <a:t>B. Variance-UCB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3172968"/>
            <a:ext cx="1627632" cy="7498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2D2D2D"/>
                </a:solidFill>
                <a:latin typeface="Pretendard Medium"/>
              </a:rPr>
              <a:t>95.0%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172968"/>
            <a:ext cx="1298448" cy="7498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2D2D2D"/>
                </a:solidFill>
                <a:latin typeface="Pretendard Medium"/>
              </a:rPr>
              <a:t>1.24×
(기하평균)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3154680"/>
            <a:ext cx="4133087" cy="8046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Pretendard Light"/>
              </a:rPr>
              <a:t>pilot 비용까지 포함한 일회성 후보
안전성을 높이면 이득이 작아짐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4105656"/>
            <a:ext cx="2523744" cy="960120"/>
          </a:xfrm>
          <a:prstGeom prst="rect">
            <a:avLst/>
          </a:prstGeom>
          <a:solidFill>
            <a:srgbClr val="F4CCC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3552" y="4105656"/>
            <a:ext cx="1883664" cy="960120"/>
          </a:xfrm>
          <a:prstGeom prst="rect">
            <a:avLst/>
          </a:prstGeom>
          <a:solidFill>
            <a:srgbClr val="F4CCC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5232" y="4105656"/>
            <a:ext cx="1517904" cy="960120"/>
          </a:xfrm>
          <a:prstGeom prst="rect">
            <a:avLst/>
          </a:prstGeom>
          <a:solidFill>
            <a:srgbClr val="F4CCC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31152" y="4105656"/>
            <a:ext cx="4498848" cy="960120"/>
          </a:xfrm>
          <a:prstGeom prst="rect">
            <a:avLst/>
          </a:prstGeom>
          <a:solidFill>
            <a:srgbClr val="F4CCC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215384"/>
            <a:ext cx="2267712" cy="7132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  <a:latin typeface="Pretendard"/>
              </a:rPr>
              <a:t>C. Ordered top-k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4197096"/>
            <a:ext cx="1627632" cy="7498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2D2D2D"/>
                </a:solidFill>
                <a:latin typeface="Pretendard Medium"/>
              </a:rPr>
              <a:t>40.0%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197096"/>
            <a:ext cx="1298448" cy="7498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2D2D2D"/>
                </a:solidFill>
                <a:latin typeface="Pretendard Medium"/>
              </a:rPr>
              <a:t>빠름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4178808"/>
            <a:ext cx="4133087" cy="8046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Pretendard Light"/>
              </a:rPr>
              <a:t>tail truncation bias로 최종 정책 탈락
확률 질량은 hardness signal로 활용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52144" y="5376672"/>
            <a:ext cx="9857232" cy="621792"/>
          </a:xfrm>
          <a:prstGeom prst="roundRect">
            <a:avLst/>
          </a:prstGeom>
          <a:solidFill>
            <a:srgbClr val="F2F7FC"/>
          </a:solidFill>
          <a:ln w="1524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53312" y="5468112"/>
            <a:ext cx="9454896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F3756"/>
                </a:solidFill>
                <a:latin typeface="Pretendard Medium"/>
              </a:rPr>
              <a:t>결론: probabilistic pilot + Variance-UCB + tail-risk fallback의 Hybrid가 가장 유망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6327648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Pretendard Light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051560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3100" b="0">
                <a:solidFill>
                  <a:srgbClr val="1F3756"/>
                </a:solidFill>
                <a:latin typeface="Pretendard Medium"/>
              </a:rPr>
              <a:t>4. 향후 계획 (1/1)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09728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07008"/>
            <a:ext cx="3127248" cy="3419856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78992" cy="4023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4472C4"/>
                </a:solidFill>
                <a:latin typeface="Pretendard Medium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1389888"/>
            <a:ext cx="932688" cy="4023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400" b="1">
                <a:solidFill>
                  <a:srgbClr val="4472C4"/>
                </a:solidFill>
                <a:latin typeface="Pretendard Medium"/>
              </a:rPr>
              <a:t>1–2주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65376"/>
            <a:ext cx="279806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2D2D2D"/>
                </a:solidFill>
                <a:latin typeface="Pretendard Medium"/>
              </a:rPr>
              <a:t>Hybrid policy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2798064" cy="1847088"/>
          </a:xfrm>
          <a:prstGeom prst="rect">
            <a:avLst/>
          </a:prstGeom>
          <a:noFill/>
        </p:spPr>
        <p:txBody>
          <a:bodyPr wrap="none" lIns="109728" rIns="109728" tIns="73152" bIns="7315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between / within variance pilot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ordered mass로 hard case 탐지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hard case는 full budget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6512" y="1207008"/>
            <a:ext cx="3127248" cy="3419856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1389888"/>
            <a:ext cx="1078992" cy="4023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Pretendard Medium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1389888"/>
            <a:ext cx="932688" cy="4023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400" b="1">
                <a:solidFill>
                  <a:srgbClr val="70AD47"/>
                </a:solidFill>
                <a:latin typeface="Pretendard Medium"/>
              </a:rPr>
              <a:t>2–4주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1865376"/>
            <a:ext cx="279806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2D2D2D"/>
                </a:solidFill>
                <a:latin typeface="Pretendard Medium"/>
              </a:rPr>
              <a:t>Sample-efficient tuner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487168"/>
            <a:ext cx="2798064" cy="1847088"/>
          </a:xfrm>
          <a:prstGeom prst="rect">
            <a:avLst/>
          </a:prstGeom>
          <a:noFill/>
        </p:spPr>
        <p:txBody>
          <a:bodyPr wrap="none" lIns="109728" rIns="109728" tIns="73152" bIns="7315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successive halving / bandit 탐색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pilot 비용을 목적함수에 포함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unseen circuit / noise 검증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207008"/>
            <a:ext cx="3127248" cy="3419856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1389888"/>
            <a:ext cx="1078992" cy="4023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Pretendard Medium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7776" y="1389888"/>
            <a:ext cx="932688" cy="4023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400" b="1">
                <a:solidFill>
                  <a:srgbClr val="ED7D31"/>
                </a:solidFill>
                <a:latin typeface="Pretendard Medium"/>
              </a:rPr>
              <a:t>4주+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1865376"/>
            <a:ext cx="2798064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2D2D2D"/>
                </a:solidFill>
                <a:latin typeface="Pretendard Medium"/>
              </a:rPr>
              <a:t>CUDA-Q runtime 통합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2487168"/>
            <a:ext cx="2798064" cy="1847088"/>
          </a:xfrm>
          <a:prstGeom prst="rect">
            <a:avLst/>
          </a:prstGeom>
          <a:noFill/>
        </p:spPr>
        <p:txBody>
          <a:bodyPr wrap="none" lIns="109728" rIns="109728" tIns="73152" bIns="7315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CUDA-Q 자동 budget selector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반복 VQE/QML에서 amortization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D2D2D"/>
                </a:solidFill>
                <a:latin typeface="Pretendard Light"/>
              </a:rPr>
              <a:t>• multi-GPU scheduling 확장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4956048"/>
            <a:ext cx="10533888" cy="9144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5074920"/>
            <a:ext cx="1298448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F3756"/>
                </a:solidFill>
                <a:latin typeface="Pretendard Medium"/>
              </a:rPr>
              <a:t>Go / No-Go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5010912"/>
            <a:ext cx="8833104" cy="58521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2D2D2D"/>
                </a:solidFill>
                <a:latin typeface="Pretendard Medium"/>
              </a:rPr>
              <a:t>성공률 ≥ full baseline(93.2%)  ·  pilot 포함 ≥ 1.5× 가속  ·  unseen workload에서도 유지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5577840"/>
            <a:ext cx="8833104" cy="23774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696969"/>
                </a:solidFill>
                <a:latin typeface="Pretendard Light"/>
              </a:rPr>
              <a:t>실패 시: 일회성 online tuner 대신 반복 workload용 offline profile 방향으로 축소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6327648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Pretendard Light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EFEE82-03DD-4F90-81E2-2AF29E1D81FB}">
  <ds:schemaRefs>
    <ds:schemaRef ds:uri="http://purl.org/dc/terms/"/>
    <ds:schemaRef ds:uri="http://purl.org/dc/dcmitype/"/>
    <ds:schemaRef ds:uri="http://schemas.microsoft.com/office/2006/documentManagement/types"/>
    <ds:schemaRef ds:uri="16c05727-aa75-4e4a-9b5f-8a80a1165891"/>
    <ds:schemaRef ds:uri="http://schemas.microsoft.com/office/2006/metadata/properties"/>
    <ds:schemaRef ds:uri="230e9df3-be65-4c73-a93b-d1236ebd677e"/>
    <ds:schemaRef ds:uri="71af3243-3dd4-4a8d-8c0d-dd76da1f02a5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6FB6FBE4-5ACD-4115-9139-635E82C3D3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E109C5-7A21-42A3-B17A-36E7B8E5EF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8722</TotalTime>
  <Words>784</Words>
  <Application>Microsoft Office PowerPoint</Application>
  <PresentationFormat>와이드스크린</PresentationFormat>
  <Paragraphs>72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Pretendard Light</vt:lpstr>
      <vt:lpstr>Pretendard Medium</vt:lpstr>
      <vt:lpstr>맑은 고딕</vt:lpstr>
      <vt:lpstr>Arial</vt:lpstr>
      <vt:lpstr>Calibri</vt:lpstr>
      <vt:lpstr>Calibri Light</vt:lpstr>
      <vt:lpstr>Office 2013 - 2022 테마</vt:lpstr>
      <vt:lpstr>6월 4주차 랩미팅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들어주셔서 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최민수</dc:creator>
  <cp:keywords/>
  <cp:lastModifiedBy>최민수</cp:lastModifiedBy>
  <cp:revision>111</cp:revision>
  <dcterms:created xsi:type="dcterms:W3CDTF">2025-07-02T06:57:03Z</dcterms:created>
  <dcterms:modified xsi:type="dcterms:W3CDTF">2026-06-23T04:47:23Z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